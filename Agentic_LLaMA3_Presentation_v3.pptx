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F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10058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A2332"/>
                </a:solidFill>
              </a:rPr>
              <a:t>Agentic Self-Correction in LLaMA3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515600" cy="548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04F"/>
                </a:solidFill>
              </a:rPr>
              <a:t>Enhancing E-Commerce Sentiment Analysis through Multi-Agent Reflection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063240"/>
            <a:ext cx="11274552" cy="2540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3246120"/>
            <a:ext cx="3017520" cy="347472"/>
          </a:xfrm>
          <a:prstGeom prst="rect">
            <a:avLst/>
          </a:prstGeom>
          <a:solidFill>
            <a:srgbClr val="55606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246120"/>
            <a:ext cx="3017520" cy="347472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Phase 1: 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3246120"/>
            <a:ext cx="3017520" cy="347472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246120"/>
            <a:ext cx="3017520" cy="347472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Phase 2: Multi-Agent Agentic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3246120"/>
            <a:ext cx="3017520" cy="347472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3246120"/>
            <a:ext cx="3017520" cy="347472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Amazon Reviews 2023 · 2,000 Samples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0515600" cy="4114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33404F"/>
                </a:solidFill>
              </a:rPr>
              <a:t>LLaMA-3-8B + LoRA  ·  BLIP Visual Verifier  ·  LanceDB RAG  ·  Dissonance-Triggered Self-Correction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684"/>
                </a:solidFill>
              </a:rPr>
              <a:t>Varun K  ·  PES MTech Project  ·  March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92840" y="6519672"/>
            <a:ext cx="758952" cy="256032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684"/>
                </a:solidFill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F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01 ·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</a:rPr>
              <a:t>The Problem: Why Single-Pass LLMs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404F"/>
                </a:solidFill>
              </a:rPr>
              <a:t>LLaMA-3 excels at language — but a single inference step has no factual verification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74552" cy="2540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65760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01368"/>
            <a:ext cx="41148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5AA0"/>
                </a:solidFill>
              </a:rP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01368"/>
            <a:ext cx="3063240" cy="34747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AA0"/>
                </a:solidFill>
              </a:rPr>
              <a:t>Sentiment Hallucinations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85416"/>
            <a:ext cx="3383280" cy="2057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3404F"/>
                </a:solidFill>
              </a:rPr>
              <a:t>AI mistakes user error for product defect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04F"/>
                </a:solidFill>
              </a:rPr>
              <a:t>e.g. 'watch isn't waterproof' labelled as defect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04F"/>
                </a:solidFill>
              </a:rPr>
              <a:t>— no access to spec sheets to verify claims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1691640"/>
            <a:ext cx="365760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801368"/>
            <a:ext cx="41148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5AA0"/>
                </a:solidFill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1801368"/>
            <a:ext cx="3063240" cy="34747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AA0"/>
                </a:solidFill>
              </a:rPr>
              <a:t>Context Blindness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185416"/>
            <a:ext cx="3383280" cy="2057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3404F"/>
                </a:solidFill>
              </a:rPr>
              <a:t>Ignores product images and metadata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04F"/>
                </a:solidFill>
              </a:rPr>
              <a:t>Text-only: blind to shattered screen photos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04F"/>
                </a:solidFill>
              </a:rPr>
              <a:t>Missing visual evidence = incomplete sentiment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4464" y="1691640"/>
            <a:ext cx="365760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01368"/>
            <a:ext cx="41148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5AA0"/>
                </a:solidFill>
              </a:rPr>
              <a:t>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7384" y="1801368"/>
            <a:ext cx="3063240" cy="34747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AA0"/>
                </a:solidFill>
              </a:rPr>
              <a:t>Linguistic Errors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185416"/>
            <a:ext cx="3383280" cy="2057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3404F"/>
                </a:solidFill>
              </a:rPr>
              <a:t>Misreads sarcasm: 'Amazing, it broke in 2 days'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04F"/>
                </a:solidFill>
              </a:rPr>
              <a:t>No critic to trigger re-evaluation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04F"/>
                </a:solidFill>
              </a:rPr>
              <a:t>Mixed sentiment scored incorrectly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34840"/>
            <a:ext cx="11274552" cy="1097280"/>
          </a:xfrm>
          <a:prstGeom prst="rect">
            <a:avLst/>
          </a:prstGeom>
          <a:solidFill>
            <a:srgbClr val="F7F8FA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26280"/>
            <a:ext cx="13716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5AA0"/>
                </a:solidFill>
              </a:rPr>
              <a:t>THE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73168"/>
            <a:ext cx="10972800" cy="6400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A critical need for a system that doesn't just read sentiment — but verifies it against product facts and multimodal evidence. The transition: passive single-pass classifier  →  agentic verifier-in-the-loop.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92840" y="6519672"/>
            <a:ext cx="758952" cy="256032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684"/>
                </a:solidFill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F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02 · 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</a:rPr>
              <a:t>From Passive Classifier to Agentic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404F"/>
                </a:solidFill>
              </a:rPr>
              <a:t>What the baseline does well — and the three gaps that motivate Phase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74552" cy="2540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749039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347472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5AA0"/>
                </a:solidFill>
              </a:rPr>
              <a:t>BASELINE (Wang et al., 2025)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76272"/>
            <a:ext cx="347472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5AA0"/>
                </a:solidFill>
              </a:rPr>
              <a:t>✓  LLaMA-3-8B + LoRA fine-tuning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23744"/>
            <a:ext cx="347472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5AA0"/>
                </a:solidFill>
              </a:rPr>
              <a:t>✓  DQC: TextBlob quality filtering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71216"/>
            <a:ext cx="347472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5AA0"/>
                </a:solidFill>
              </a:rPr>
              <a:t>✓  VGST: diversity-maximising sampling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18688"/>
            <a:ext cx="347472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5AA0"/>
                </a:solidFill>
              </a:rPr>
              <a:t>✓  One-Shot + Zero-Shot CoT prompting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66160"/>
            <a:ext cx="347472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5AA0"/>
                </a:solidFill>
              </a:rPr>
              <a:t>✓  Paper accuracy: 92.6%  F1: 93.3%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13632"/>
            <a:ext cx="347472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04F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61104"/>
            <a:ext cx="347472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93636"/>
                </a:solidFill>
              </a:rPr>
              <a:t>✗  Single-pass — no reflection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08576"/>
            <a:ext cx="347472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93636"/>
                </a:solidFill>
              </a:rPr>
              <a:t>✗  Text only — no images/metadata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956048"/>
            <a:ext cx="347472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93636"/>
                </a:solidFill>
              </a:rPr>
              <a:t>✗  No factual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520440"/>
            <a:ext cx="4572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C5AA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1691640"/>
            <a:ext cx="676656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74920" y="1783080"/>
            <a:ext cx="1371600" cy="256032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783080"/>
            <a:ext cx="1371600" cy="256032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Gullibility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1755648"/>
            <a:ext cx="5029200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Factual Grounding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03120"/>
            <a:ext cx="6492240" cy="7498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Baseline assumes user text is always correct. No access to specs to challenge claims.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3108960"/>
            <a:ext cx="676656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74920" y="3200400"/>
            <a:ext cx="1371600" cy="256032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3200400"/>
            <a:ext cx="1371600" cy="256032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Critic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172968"/>
            <a:ext cx="5029200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Autonomous Auditing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3520440"/>
            <a:ext cx="6492240" cy="7498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No self-correction loop. Sarcasm and irony pass unchallenged through the single-pass model.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4526280"/>
            <a:ext cx="676656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74920" y="4617720"/>
            <a:ext cx="1371600" cy="256032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4617720"/>
            <a:ext cx="1371600" cy="256032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Visual Gap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590288"/>
            <a:ext cx="5029200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Modality Isolation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4937760"/>
            <a:ext cx="6492240" cy="7498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Text-only. Product images and metadata are ignored — a shattered screen photo is invisible.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292840" y="6519672"/>
            <a:ext cx="758952" cy="256032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684"/>
                </a:solidFill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F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03 ·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</a:rPr>
              <a:t>Datasets: Baseline vs Proposed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404F"/>
                </a:solidFill>
              </a:rPr>
              <a:t>Two different datasets — one for training, one for the Phase 2 multimodal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74552" cy="2540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48640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521208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AA0"/>
                </a:solidFill>
              </a:rPr>
              <a:t>Phase 1 — Kaggle Amazon Reviews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76272"/>
            <a:ext cx="5212080" cy="34747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04F"/>
                </a:solidFill>
              </a:rPr>
              <a:t>Source:  arhamrumi/amazon-product-reviews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5212080" cy="34747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04F"/>
                </a:solidFill>
              </a:rPr>
              <a:t>Size:    ~500,000 product 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44368"/>
            <a:ext cx="5212080" cy="34747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04F"/>
                </a:solidFill>
              </a:rPr>
              <a:t>Labels:  1–5 star ratings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28416"/>
            <a:ext cx="5212080" cy="34747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04F"/>
                </a:solidFill>
              </a:rPr>
              <a:t>Fields:  review text, rating, 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12464"/>
            <a:ext cx="5212080" cy="34747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04F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096512"/>
            <a:ext cx="5212080" cy="34747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5AA0"/>
                </a:solidFill>
              </a:rPr>
              <a:t>Challenge: heavy positive bias, noisy labels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80560"/>
            <a:ext cx="5212080" cy="34747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04F"/>
                </a:solidFill>
              </a:rPr>
              <a:t>Fix: TextBlob DQC + stratified sampling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864608"/>
            <a:ext cx="5212080" cy="34747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04F"/>
                </a:solidFill>
              </a:rPr>
              <a:t>      + VGST diversity + neutral oversample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248656"/>
            <a:ext cx="5212080" cy="34747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04F"/>
                </a:solidFill>
              </a:rPr>
              <a:t>Final training pool:  4,000 samples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5352" y="1691640"/>
            <a:ext cx="548640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783080"/>
            <a:ext cx="521208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AA0"/>
                </a:solidFill>
              </a:rPr>
              <a:t>Phase 2 — Amazon Reviews 2023 (UCSD McAuley Lab)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176272"/>
            <a:ext cx="5212080" cy="34747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04F"/>
                </a:solidFill>
              </a:rPr>
              <a:t>Source:  McAuley-Lab/Amazon-Reviews-2023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560320"/>
            <a:ext cx="5212080" cy="34747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04F"/>
                </a:solidFill>
              </a:rPr>
              <a:t>Scale:   570M reviews · 48M products · 33 categories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944368"/>
            <a:ext cx="5212080" cy="34747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04F"/>
                </a:solidFill>
              </a:rPr>
              <a:t>Eval:    All Beauty · 2,000 samples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328416"/>
            <a:ext cx="5212080" cy="34747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04F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712464"/>
            <a:ext cx="5212080" cy="34747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332"/>
                </a:solidFill>
              </a:rPr>
              <a:t>Review data:   text, rating, user ID, timestamp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4096512"/>
            <a:ext cx="5212080" cy="34747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332"/>
                </a:solidFill>
              </a:rPr>
              <a:t>Metadata:      title, specs, category, price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4480560"/>
            <a:ext cx="5212080" cy="34747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332"/>
                </a:solidFill>
              </a:rPr>
              <a:t>Product images: multiple views per product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4864608"/>
            <a:ext cx="5212080" cy="34747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04F"/>
                </a:solidFill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5248656"/>
            <a:ext cx="5212080" cy="34747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5AA0"/>
                </a:solidFill>
              </a:rPr>
              <a:t>Enables:  text + image + metadata reasoning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92840" y="6519672"/>
            <a:ext cx="758952" cy="256032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684"/>
                </a:solidFill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F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04 ·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</a:rPr>
              <a:t>Phase 1 Data Preprocessing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404F"/>
                </a:solidFill>
              </a:rPr>
              <a:t>Five ordered steps to produce a clean, balanced, diverse 4,000-sample training 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74552" cy="2540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2148840" cy="347472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457200" cy="27432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783080"/>
            <a:ext cx="457200" cy="27432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01368"/>
            <a:ext cx="141732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TextBlob DQC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76272"/>
            <a:ext cx="1938528" cy="2834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Drop reviews where TextBlob polarity contradicts the numeric rating. Removes noisy, mislabelled examples.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743200"/>
            <a:ext cx="192024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C5AA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98064" y="1691640"/>
            <a:ext cx="2148840" cy="347472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07792" y="1783080"/>
            <a:ext cx="457200" cy="27432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7792" y="1783080"/>
            <a:ext cx="457200" cy="27432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8144" y="1801368"/>
            <a:ext cx="141732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Stratified 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2" y="2176272"/>
            <a:ext cx="1938528" cy="2834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Balance to equal counts per class (1–5 stars) up to 10,000 samples. Prevents majority-class bias.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46904" y="2743200"/>
            <a:ext cx="192024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C5AA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38928" y="1691640"/>
            <a:ext cx="2148840" cy="347472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48656" y="1783080"/>
            <a:ext cx="457200" cy="27432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48656" y="1783080"/>
            <a:ext cx="457200" cy="27432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9008" y="1801368"/>
            <a:ext cx="141732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VGST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656" y="2176272"/>
            <a:ext cx="1938528" cy="2834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Greedy diversity sampling: select reviews that maximise new token coverage. Lexical richness.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7768" y="2743200"/>
            <a:ext cx="192024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C5AA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79792" y="1691640"/>
            <a:ext cx="2148840" cy="347472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89520" y="1783080"/>
            <a:ext cx="457200" cy="27432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1783080"/>
            <a:ext cx="457200" cy="27432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9872" y="1801368"/>
            <a:ext cx="141732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Oversample Neutral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2176272"/>
            <a:ext cx="1938528" cy="2834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Duplicate rating-3 examples ×2. Neutral sentiment is the hardest class — more examples help.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8632" y="2743200"/>
            <a:ext cx="192024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C5AA0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20656" y="1691640"/>
            <a:ext cx="2148840" cy="347472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30384" y="1783080"/>
            <a:ext cx="457200" cy="27432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30384" y="1783080"/>
            <a:ext cx="457200" cy="27432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60736" y="1801368"/>
            <a:ext cx="141732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Cap max_samples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0384" y="2176272"/>
            <a:ext cx="1938528" cy="2834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Shuffle and take first 4,000. Final training pool is balanced, diverse, and neutral-boosted.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349240"/>
            <a:ext cx="11274552" cy="914400"/>
          </a:xfrm>
          <a:prstGeom prst="rect">
            <a:avLst/>
          </a:prstGeom>
          <a:solidFill>
            <a:srgbClr val="F7F8FA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440680"/>
            <a:ext cx="109728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AA0"/>
                </a:solidFill>
              </a:rPr>
              <a:t>OUTPUT: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7360" y="5440680"/>
            <a:ext cx="9784080" cy="6400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332"/>
                </a:solidFill>
              </a:rPr>
              <a:t>Clean · Balanced (equal per class) · Lexically Diverse · Neutral-boosted · Capped at 4,000 samples → fed into LLaMA-3-8B + LoRA (r=16, α=128, 5 epochs, best checkpoint)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292840" y="6519672"/>
            <a:ext cx="758952" cy="256032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684"/>
                </a:solidFill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F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05 · PHASE 1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</a:rPr>
              <a:t>Phase 1: LLaMA-3-8B + LoRA Fine-Tuning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404F"/>
                </a:solidFill>
              </a:rPr>
              <a:t>Supervised fine-tuning with parameter-efficient LoRA — text-only, single-pass classification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74552" cy="2540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02920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475488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AA0"/>
                </a:solidFill>
              </a:rPr>
              <a:t>LoRA: Parameter-Efficient Fine-Tuning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76272"/>
            <a:ext cx="4754880" cy="34747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C5AA0"/>
                </a:solidFill>
              </a:rPr>
              <a:t>h = Wx + ΔWx = Wx + BAx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33472"/>
            <a:ext cx="475488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B ∈ ℝᵈˣʳ  and  A ∈ ℝʳˣᵈ  with  r ≪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80944"/>
            <a:ext cx="475488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Only A and B are updated — base weights frozen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28416"/>
            <a:ext cx="475488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Reduces trainable params from d² to 2·r·d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75888"/>
            <a:ext cx="475488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Init: A ~ Gaussian, B = 0  →  ΔW = 0 at 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023360"/>
            <a:ext cx="475488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70832"/>
            <a:ext cx="475488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Target modules:  q_proj, k_proj, v_proj, o_proj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718304"/>
            <a:ext cx="475488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Layers:  last 8 transformer layers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065776"/>
            <a:ext cx="475488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Quantisation:  4-bit NF4 (fits Colab T4 16GB)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1691640"/>
            <a:ext cx="594360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1783080"/>
            <a:ext cx="5669280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AA0"/>
                </a:solidFill>
              </a:rPr>
              <a:t>Hyperparameters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2176272"/>
            <a:ext cx="5943600" cy="384048"/>
          </a:xfrm>
          <a:prstGeom prst="rect">
            <a:avLst/>
          </a:prstGeom>
          <a:solidFill>
            <a:srgbClr val="EDEF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2231136"/>
            <a:ext cx="256032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Learning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31136"/>
            <a:ext cx="13716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5e-5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231136"/>
            <a:ext cx="17373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684"/>
                </a:solidFill>
              </a:rPr>
              <a:t>cosine scheduler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2615184"/>
            <a:ext cx="256032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Epochs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615184"/>
            <a:ext cx="13716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615184"/>
            <a:ext cx="17373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684"/>
                </a:solidFill>
              </a:rPr>
              <a:t>best checkpoint saved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2944368"/>
            <a:ext cx="5943600" cy="384048"/>
          </a:xfrm>
          <a:prstGeom prst="rect">
            <a:avLst/>
          </a:prstGeom>
          <a:solidFill>
            <a:srgbClr val="EDEF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7880" y="2999232"/>
            <a:ext cx="256032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Batch 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999232"/>
            <a:ext cx="13716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999232"/>
            <a:ext cx="17373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684"/>
                </a:solidFill>
              </a:rPr>
              <a:t>grad accumulation =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3383280"/>
            <a:ext cx="256032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LoRA Rank 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383280"/>
            <a:ext cx="13716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383280"/>
            <a:ext cx="17373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684"/>
                </a:solidFill>
              </a:rPr>
              <a:t>paper uses r=4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3712464"/>
            <a:ext cx="5943600" cy="384048"/>
          </a:xfrm>
          <a:prstGeom prst="rect">
            <a:avLst/>
          </a:prstGeom>
          <a:solidFill>
            <a:srgbClr val="EDEF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97880" y="3767328"/>
            <a:ext cx="256032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LoRA Alpha 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767328"/>
            <a:ext cx="13716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128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767328"/>
            <a:ext cx="17373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684"/>
                </a:solidFill>
              </a:rPr>
              <a:t>paper uses α=64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4151376"/>
            <a:ext cx="256032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Max Samples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151376"/>
            <a:ext cx="13716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4,000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4151376"/>
            <a:ext cx="17373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684"/>
                </a:solidFill>
              </a:rPr>
              <a:t>paper uses 2,000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0" y="4480560"/>
            <a:ext cx="5943600" cy="384048"/>
          </a:xfrm>
          <a:prstGeom prst="rect">
            <a:avLst/>
          </a:prstGeom>
          <a:solidFill>
            <a:srgbClr val="EDEF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97880" y="4535424"/>
            <a:ext cx="256032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Max Seq Length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535424"/>
            <a:ext cx="13716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1,024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4535424"/>
            <a:ext cx="17373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684"/>
                </a:solidFill>
              </a:rPr>
              <a:t>truncation left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7880" y="4919472"/>
            <a:ext cx="256032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Quantisation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4919472"/>
            <a:ext cx="13716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4-bit NF4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919472"/>
            <a:ext cx="17373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684"/>
                </a:solidFill>
              </a:rPr>
              <a:t>bitsandbytes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292840" y="6519672"/>
            <a:ext cx="758952" cy="256032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684"/>
                </a:solidFill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F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06 · PHASE 2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</a:rPr>
              <a:t>Phase 2: Multi-Agent Agentic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404F"/>
                </a:solidFill>
              </a:rPr>
              <a:t>Four specialised agents with dissonance-triggered self-correction — LangGraph stateful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74552" cy="2540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274320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801368"/>
            <a:ext cx="2523744" cy="27432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801368"/>
            <a:ext cx="2523744" cy="27432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AGENT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148840"/>
            <a:ext cx="2523744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5AA0"/>
                </a:solidFill>
              </a:rPr>
              <a:t>Analyst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50592"/>
            <a:ext cx="2523744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404F"/>
                </a:solidFill>
              </a:rPr>
              <a:t>LLaMA-3-8B + LoRA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788920"/>
            <a:ext cx="2523744" cy="310896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• Reads review text with one-shot + CoT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127248"/>
            <a:ext cx="2523744" cy="310896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• Produces draft rating H (Hypothesis)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465576"/>
            <a:ext cx="2523744" cy="310896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• Same adapter as Phase 1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80360"/>
            <a:ext cx="201168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C5AA0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274320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11296" y="1801368"/>
            <a:ext cx="2523744" cy="27432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1801368"/>
            <a:ext cx="2523744" cy="27432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AGENT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1296" y="2148840"/>
            <a:ext cx="2523744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5AA0"/>
                </a:solidFill>
              </a:rPr>
              <a:t>Visual Verifier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1296" y="2450592"/>
            <a:ext cx="2523744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404F"/>
                </a:solidFill>
              </a:rPr>
              <a:t>BLIP + 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11296" y="2788920"/>
            <a:ext cx="2523744" cy="310896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• Downloads product image via URL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11296" y="3127248"/>
            <a:ext cx="2523744" cy="310896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• BLIP generates text caption (Ev)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1296" y="3465576"/>
            <a:ext cx="2523744" cy="310896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• LLM re-prompts with visual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2880360"/>
            <a:ext cx="201168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C5AA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45936" y="1691640"/>
            <a:ext cx="274320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55664" y="1801368"/>
            <a:ext cx="2523744" cy="27432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55664" y="1801368"/>
            <a:ext cx="2523744" cy="27432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AGENT 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2148840"/>
            <a:ext cx="2523744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5AA0"/>
                </a:solidFill>
              </a:rPr>
              <a:t>RAG Prover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450592"/>
            <a:ext cx="2523744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404F"/>
                </a:solidFill>
              </a:rPr>
              <a:t>LanceDB k-NN (k=3)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2788920"/>
            <a:ext cx="2523744" cy="310896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• Queries vector index of review corpus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3127248"/>
            <a:ext cx="2523744" cy="310896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• Retrieves 3 similar past reviews (Gf)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465576"/>
            <a:ext cx="2523744" cy="310896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• all-MiniLM-L6-v2 384-d embeddings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89136" y="2880360"/>
            <a:ext cx="201168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C5AA0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90304" y="1691640"/>
            <a:ext cx="274320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A9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00032" y="1801368"/>
            <a:ext cx="2523744" cy="274320"/>
          </a:xfrm>
          <a:prstGeom prst="rect">
            <a:avLst/>
          </a:prstGeom>
          <a:solidFill>
            <a:srgbClr val="A9363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00032" y="1801368"/>
            <a:ext cx="2523744" cy="27432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AGENT 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0032" y="2148840"/>
            <a:ext cx="2523744" cy="3200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93636"/>
                </a:solidFill>
              </a:rPr>
              <a:t>Critic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00032" y="2450592"/>
            <a:ext cx="2523744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404F"/>
                </a:solidFill>
              </a:rPr>
              <a:t>Dissonance Engine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00032" y="2788920"/>
            <a:ext cx="2523744" cy="310896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• Collects votes [H, Ev, Gf]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00032" y="3127248"/>
            <a:ext cx="2523744" cy="310896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• D = std(votes) / 2  (normalised)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00032" y="3465576"/>
            <a:ext cx="2523744" cy="310896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• D ≥ 0.4 → self-correction loop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074920"/>
            <a:ext cx="11274552" cy="1234440"/>
          </a:xfrm>
          <a:prstGeom prst="rect">
            <a:avLst/>
          </a:prstGeom>
          <a:solidFill>
            <a:srgbClr val="F7F8FA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166360"/>
            <a:ext cx="256032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5AA0"/>
                </a:solidFill>
              </a:rPr>
              <a:t>SELF-CORRECTION LOOP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440680"/>
            <a:ext cx="10972800" cy="685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332"/>
                </a:solidFill>
              </a:rPr>
              <a:t>When D ≥ 0.4: Critic generates targeted feedback → Analyst re-runs with critique injected into prompt → up to 2 iterations. On 922 of 2,000 samples (46.1%), agents disagreed enough to trigger the loop.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292840" y="6519672"/>
            <a:ext cx="758952" cy="256032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684"/>
                </a:solidFill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F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07 · CRITIC &amp; SELF-CORRECTION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</a:rPr>
              <a:t>The Critic Node &amp; Dissonance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404F"/>
                </a:solidFill>
              </a:rPr>
              <a:t>Mathematical definition of disagreement and the reflection loop that resolves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74552" cy="2540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303520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50292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5AA0"/>
                </a:solidFill>
              </a:rPr>
              <a:t>Dissonance 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5029200" cy="5029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332"/>
                </a:solidFill>
              </a:rPr>
              <a:t>D  =  √( Σ(vᵢ − v̄)² / 3 )  ÷ 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61488"/>
            <a:ext cx="5029200" cy="237744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vᵢ  =  vote from agent i  (1–5 stars)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237744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v̄   =  mean of three votes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73552"/>
            <a:ext cx="5029200" cy="237744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÷ 2  =  normalise to [0, 1] 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29584"/>
            <a:ext cx="5029200" cy="237744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Threshold:  D ≥ 0.4  →  trigger correction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691640"/>
            <a:ext cx="5669280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783080"/>
            <a:ext cx="53949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5AA0"/>
                </a:solidFill>
              </a:rPr>
              <a:t>Decision 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121408"/>
            <a:ext cx="1280160" cy="27432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121408"/>
            <a:ext cx="1280160" cy="27432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 = 0.000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121408"/>
            <a:ext cx="40233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All agents agree → release immediately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560320"/>
            <a:ext cx="1280160" cy="27432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2560320"/>
            <a:ext cx="1280160" cy="27432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 &lt; 0.400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560320"/>
            <a:ext cx="40233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Low disagreement → majority vote wins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999232"/>
            <a:ext cx="1280160" cy="27432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2999232"/>
            <a:ext cx="1280160" cy="27432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 ≥ 0.400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2999232"/>
            <a:ext cx="40233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High disagreement → Critic feedback loop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438144"/>
            <a:ext cx="1280160" cy="274320"/>
          </a:xfrm>
          <a:prstGeom prst="rect">
            <a:avLst/>
          </a:prstGeom>
          <a:solidFill>
            <a:srgbClr val="A9363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438144"/>
            <a:ext cx="1280160" cy="27432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Loop ×2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3438144"/>
            <a:ext cx="40233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Max 2 correction iterations then release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160520"/>
            <a:ext cx="11274552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251960"/>
            <a:ext cx="10972800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5AA0"/>
                </a:solidFill>
              </a:rPr>
              <a:t>Run 1 Statistics (2,000 samples)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617720"/>
            <a:ext cx="256032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04F"/>
                </a:solidFill>
              </a:rPr>
              <a:t>Self-corrections triggered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846320"/>
            <a:ext cx="2560320" cy="4114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C5AA0"/>
                </a:solidFill>
              </a:rPr>
              <a:t>922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239512"/>
            <a:ext cx="256032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404F"/>
                </a:solidFill>
              </a:rPr>
              <a:t>46.1% of all samples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10712" y="4617720"/>
            <a:ext cx="256032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04F"/>
                </a:solidFill>
              </a:rPr>
              <a:t>Samples with D ≥ 0.4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10712" y="4846320"/>
            <a:ext cx="2560320" cy="4114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C5AA0"/>
                </a:solidFill>
              </a:rPr>
              <a:t>669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10712" y="5239512"/>
            <a:ext cx="256032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404F"/>
                </a:solidFill>
              </a:rPr>
              <a:t>33.5% of all samples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27064" y="4617720"/>
            <a:ext cx="256032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04F"/>
                </a:solidFill>
              </a:rPr>
              <a:t>Mean dissonance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27064" y="4846320"/>
            <a:ext cx="2560320" cy="4114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C5AA0"/>
                </a:solidFill>
              </a:rPr>
              <a:t>0.211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27064" y="5239512"/>
            <a:ext cx="256032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404F"/>
                </a:solidFill>
              </a:rPr>
              <a:t>across all 2,000 samples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43416" y="4617720"/>
            <a:ext cx="256032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04F"/>
                </a:solidFill>
              </a:rPr>
              <a:t>Max dissonance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43416" y="4846320"/>
            <a:ext cx="2560320" cy="4114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C5AA0"/>
                </a:solidFill>
              </a:rPr>
              <a:t>0.471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43416" y="5239512"/>
            <a:ext cx="256032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404F"/>
                </a:solidFill>
              </a:rPr>
              <a:t>hardest disagreement seen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292840" y="6519672"/>
            <a:ext cx="758952" cy="256032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684"/>
                </a:solidFill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F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08 · PHASE 1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</a:rPr>
              <a:t>Phase 1 Baseline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404F"/>
                </a:solidFill>
              </a:rPr>
              <a:t>Performance on Kaggle Amazon Reviews (4,000 eval samples) vs paper reference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74552" cy="2540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6675120" cy="4114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6400800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5AA0"/>
                </a:solidFill>
              </a:rPr>
              <a:t>Classification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201168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AA0"/>
                </a:solidFill>
              </a:rPr>
              <a:t>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48840"/>
            <a:ext cx="18288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AA0"/>
                </a:solidFill>
              </a:rPr>
              <a:t>Our Run (Colab T4)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4884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AA0"/>
                </a:solidFill>
              </a:rPr>
              <a:t>Paper (RTX 4090)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48840"/>
            <a:ext cx="109728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AA0"/>
                </a:solidFill>
              </a:rPr>
              <a:t>Gap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87168"/>
            <a:ext cx="6675120" cy="438912"/>
          </a:xfrm>
          <a:prstGeom prst="rect">
            <a:avLst/>
          </a:prstGeom>
          <a:solidFill>
            <a:srgbClr val="EDEF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69464"/>
            <a:ext cx="201168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569464"/>
            <a:ext cx="18288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66.6%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569464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AA0"/>
                </a:solidFill>
              </a:rPr>
              <a:t>92.6%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569464"/>
            <a:ext cx="109728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AA0"/>
                </a:solidFill>
              </a:rPr>
              <a:t>−26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008376"/>
            <a:ext cx="201168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Weighted F1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008376"/>
            <a:ext cx="18288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68.4%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008376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AA0"/>
                </a:solidFill>
              </a:rPr>
              <a:t>93.3%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008376"/>
            <a:ext cx="109728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AA0"/>
                </a:solidFill>
              </a:rPr>
              <a:t>−24.9 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64992"/>
            <a:ext cx="6675120" cy="438912"/>
          </a:xfrm>
          <a:prstGeom prst="rect">
            <a:avLst/>
          </a:prstGeom>
          <a:solidFill>
            <a:srgbClr val="EDEF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447288"/>
            <a:ext cx="201168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Macro F1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447288"/>
            <a:ext cx="18288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49.9%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447288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447288"/>
            <a:ext cx="109728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886200"/>
            <a:ext cx="201168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Precision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886200"/>
            <a:ext cx="18288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74.1%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88620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AA0"/>
                </a:solidFill>
              </a:rPr>
              <a:t>95.3%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886200"/>
            <a:ext cx="109728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AA0"/>
                </a:solidFill>
              </a:rPr>
              <a:t>−21.2 pp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242816"/>
            <a:ext cx="6675120" cy="438912"/>
          </a:xfrm>
          <a:prstGeom prst="rect">
            <a:avLst/>
          </a:prstGeom>
          <a:solidFill>
            <a:srgbClr val="EDEF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325112"/>
            <a:ext cx="201168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BLEU-4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325112"/>
            <a:ext cx="18288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60.7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325112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AA0"/>
                </a:solidFill>
              </a:rPr>
              <a:t>30.2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325112"/>
            <a:ext cx="109728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AA0"/>
                </a:solidFill>
              </a:rPr>
              <a:t>+30.5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764024"/>
            <a:ext cx="201168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ROUGE-1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764024"/>
            <a:ext cx="18288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64.5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4764024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AA0"/>
                </a:solidFill>
              </a:rPr>
              <a:t>85.5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764024"/>
            <a:ext cx="109728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AA0"/>
                </a:solidFill>
              </a:rPr>
              <a:t>−21 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897880"/>
            <a:ext cx="6400800" cy="34747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404F"/>
                </a:solidFill>
              </a:rPr>
              <a:t>* Gap in BLEU-4 is positive because our model outputs full CoT reasoning text (longer sequences)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1691640"/>
            <a:ext cx="4297680" cy="4114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43800" y="1783080"/>
            <a:ext cx="4023360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5AA0"/>
                </a:solidFill>
              </a:rPr>
              <a:t>Why the gap exists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3800" y="2194560"/>
            <a:ext cx="40233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Paper: RTX 4090, exact data splits,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43800" y="2468880"/>
            <a:ext cx="40233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full experimental setup.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3800" y="2743200"/>
            <a:ext cx="40233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3800" y="3017520"/>
            <a:ext cx="40233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Our run: Colab T4 (free tier),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43800" y="3291840"/>
            <a:ext cx="40233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single-sample inference,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43800" y="3566160"/>
            <a:ext cx="40233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4-bit quantisation.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800" y="3840480"/>
            <a:ext cx="40233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43800" y="4114800"/>
            <a:ext cx="40233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Goal is methodological alignment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43800" y="4389120"/>
            <a:ext cx="40233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— not bit-for-bit reproduction.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43800" y="4663440"/>
            <a:ext cx="40233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43800" y="4937760"/>
            <a:ext cx="40233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Despite the gap, Phase 1 is our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43800" y="5212080"/>
            <a:ext cx="40233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controlled baseline for Phase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43800" y="5486400"/>
            <a:ext cx="40233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comparison.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292840" y="6519672"/>
            <a:ext cx="758952" cy="256032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684"/>
                </a:solidFill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F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09 · PHASE 2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</a:rPr>
              <a:t>Phase 1 vs Phase 2: Headline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404F"/>
                </a:solidFill>
              </a:rPr>
              <a:t>Amazon Reviews 2023 · All Beauty · 2,000 samples · Run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74552" cy="2540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274320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83080"/>
            <a:ext cx="256032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39112"/>
            <a:ext cx="128016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332"/>
                </a:solidFill>
              </a:rPr>
              <a:t>16.1%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2039112"/>
            <a:ext cx="128016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C5AA0"/>
                </a:solidFill>
              </a:rPr>
              <a:t>38.7%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377440"/>
            <a:ext cx="256032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2C5AA0"/>
                </a:solidFill>
              </a:rPr>
              <a:t>+22.6 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852928"/>
            <a:ext cx="1234440" cy="228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404F"/>
                </a:solidFill>
              </a:rPr>
              <a:t>Phase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20" y="2852928"/>
            <a:ext cx="1234440" cy="228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404F"/>
                </a:solidFill>
              </a:rPr>
              <a:t>Phase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74320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1783080"/>
            <a:ext cx="256032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Macro 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2039112"/>
            <a:ext cx="128016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332"/>
                </a:solidFill>
              </a:rPr>
              <a:t>0.095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6" y="2039112"/>
            <a:ext cx="128016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C5AA0"/>
                </a:solidFill>
              </a:rPr>
              <a:t>0.273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1296" y="2377440"/>
            <a:ext cx="256032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2C5AA0"/>
                </a:solidFill>
              </a:rPr>
              <a:t>+17.8 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1296" y="2852928"/>
            <a:ext cx="1234440" cy="228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404F"/>
                </a:solidFill>
              </a:rPr>
              <a:t>Phase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8888" y="2852928"/>
            <a:ext cx="1234440" cy="228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404F"/>
                </a:solidFill>
              </a:rPr>
              <a:t>Phase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45936" y="1691640"/>
            <a:ext cx="274320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1783080"/>
            <a:ext cx="256032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MAE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039112"/>
            <a:ext cx="128016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332"/>
                </a:solidFill>
              </a:rPr>
              <a:t>1.520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5824" y="2039112"/>
            <a:ext cx="128016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C5AA0"/>
                </a:solidFill>
              </a:rPr>
              <a:t>0.964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2377440"/>
            <a:ext cx="256032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A93636"/>
                </a:solidFill>
              </a:rPr>
              <a:t>−0.557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2852928"/>
            <a:ext cx="1234440" cy="228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404F"/>
                </a:solidFill>
              </a:rPr>
              <a:t>Phase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3256" y="2852928"/>
            <a:ext cx="1234440" cy="228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404F"/>
                </a:solidFill>
              </a:rPr>
              <a:t>Phase 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90304" y="1691640"/>
            <a:ext cx="274320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0032" y="1783080"/>
            <a:ext cx="256032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Latency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2039112"/>
            <a:ext cx="128016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332"/>
                </a:solidFill>
              </a:rPr>
              <a:t>0.77s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80192" y="2039112"/>
            <a:ext cx="128016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93636"/>
                </a:solidFill>
              </a:rPr>
              <a:t>2.83s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0032" y="2377440"/>
            <a:ext cx="256032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A93636"/>
                </a:solidFill>
              </a:rPr>
              <a:t>3.7× overhead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00032" y="2852928"/>
            <a:ext cx="1234440" cy="228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404F"/>
                </a:solidFill>
              </a:rPr>
              <a:t>Phase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07624" y="2852928"/>
            <a:ext cx="1234440" cy="228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404F"/>
                </a:solidFill>
              </a:rPr>
              <a:t>Phase 2</a:t>
            </a:r>
          </a:p>
        </p:txBody>
      </p:sp>
      <p:pic>
        <p:nvPicPr>
          <p:cNvPr id="36" name="Picture 35" descr="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54680"/>
            <a:ext cx="5760720" cy="3108960"/>
          </a:xfrm>
          <a:prstGeom prst="rect">
            <a:avLst/>
          </a:prstGeom>
          <a:ln>
            <a:solidFill/>
          </a:ln>
        </p:spPr>
      </p:pic>
      <p:pic>
        <p:nvPicPr>
          <p:cNvPr id="37" name="Picture 36" descr="error_recov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154680"/>
            <a:ext cx="5303520" cy="3108960"/>
          </a:xfrm>
          <a:prstGeom prst="rect">
            <a:avLst/>
          </a:prstGeom>
          <a:ln>
            <a:solidFill/>
          </a:ln>
        </p:spPr>
      </p:pic>
      <p:sp>
        <p:nvSpPr>
          <p:cNvPr id="38" name="Rectangle 3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92840" y="6519672"/>
            <a:ext cx="758952" cy="256032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684"/>
                </a:solidFill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F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10 · CONFUSION MATRICES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</a:rPr>
              <a:t>Prediction Quality: Confusion Matrices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404F"/>
                </a:solidFill>
              </a:rPr>
              <a:t>Phase 2 concentrates predictions along the diagonal — Phase 1 collapses to narrow classes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74552" cy="2540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11274552" cy="4114800"/>
          </a:xfrm>
          <a:prstGeom prst="rect">
            <a:avLst/>
          </a:prstGeom>
          <a:ln>
            <a:solidFill/>
          </a:ln>
        </p:spPr>
      </p:pic>
      <p:sp>
        <p:nvSpPr>
          <p:cNvPr id="9" name="Rectangle 8"/>
          <p:cNvSpPr/>
          <p:nvPr/>
        </p:nvSpPr>
        <p:spPr>
          <a:xfrm>
            <a:off x="457200" y="5806440"/>
            <a:ext cx="539496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A9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70448"/>
            <a:ext cx="5120640" cy="56692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Phase 1: 90% of errors are under-predictions. Model collapses to 1★ and 3★. Only 25 of 377 true 4★ samples are predicted correctly (6.6% recall).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5806440"/>
            <a:ext cx="5605272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5870448"/>
            <a:ext cx="5303520" cy="56692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Phase 2: 5★ predictions jump from 241 to 569 — tracking the true distribution. 3★ accuracy reaches 97.9%. Diagonal is substantially denser.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92840" y="6519672"/>
            <a:ext cx="758952" cy="256032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684"/>
                </a:solidFill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F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11 · PER-CLASS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</a:rPr>
              <a:t>Per-Class F1 &amp; Rating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404F"/>
                </a:solidFill>
              </a:rPr>
              <a:t>3★ neutral class gains the most — metadata and image context resolve ambiguity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74552" cy="2540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er_class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7772400" cy="4389120"/>
          </a:xfrm>
          <a:prstGeom prst="rect">
            <a:avLst/>
          </a:prstGeom>
          <a:ln>
            <a:solidFill/>
          </a:ln>
        </p:spPr>
      </p:pic>
      <p:sp>
        <p:nvSpPr>
          <p:cNvPr id="9" name="Rectangle 8"/>
          <p:cNvSpPr/>
          <p:nvPr/>
        </p:nvSpPr>
        <p:spPr>
          <a:xfrm>
            <a:off x="8503920" y="1600200"/>
            <a:ext cx="3291840" cy="438912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691640"/>
            <a:ext cx="301752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AA0"/>
                </a:solidFill>
              </a:rPr>
              <a:t>Per-Rating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2029968"/>
            <a:ext cx="301752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3404F"/>
                </a:solidFill>
              </a:rPr>
              <a:t>Class   n    P1      P2    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331720"/>
            <a:ext cx="3291840" cy="438912"/>
          </a:xfrm>
          <a:prstGeom prst="rect">
            <a:avLst/>
          </a:prstGeom>
          <a:solidFill>
            <a:srgbClr val="EDEF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2423160"/>
            <a:ext cx="228600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1★  147  2.0%  27.2%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2423160"/>
            <a:ext cx="109728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5AA0"/>
                </a:solidFill>
              </a:rPr>
              <a:t>+25.2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862072"/>
            <a:ext cx="228600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2★  105  1.9%  1.0%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2862072"/>
            <a:ext cx="109728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3636"/>
                </a:solidFill>
              </a:rPr>
              <a:t>−1.0 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3209544"/>
            <a:ext cx="3291840" cy="438912"/>
          </a:xfrm>
          <a:prstGeom prst="rect">
            <a:avLst/>
          </a:prstGeom>
          <a:solidFill>
            <a:srgbClr val="EDEF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3300984"/>
            <a:ext cx="228600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3★  190  45.8%  97.9%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3300984"/>
            <a:ext cx="109728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5AA0"/>
                </a:solidFill>
              </a:rPr>
              <a:t>+52.1 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739896"/>
            <a:ext cx="228600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4★  377  0.0%  5.3%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3739896"/>
            <a:ext cx="109728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5AA0"/>
                </a:solidFill>
              </a:rPr>
              <a:t>+5.3 pp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4087368"/>
            <a:ext cx="3291840" cy="438912"/>
          </a:xfrm>
          <a:prstGeom prst="rect">
            <a:avLst/>
          </a:prstGeom>
          <a:solidFill>
            <a:srgbClr val="EDEF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4178808"/>
            <a:ext cx="228600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5★  1181  19.5%  44.6%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4178808"/>
            <a:ext cx="109728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5AA0"/>
                </a:solidFill>
              </a:rPr>
              <a:t>+25.1 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4663440"/>
            <a:ext cx="301752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C5AA0"/>
                </a:solidFill>
              </a:rPr>
              <a:t>3★ is the biggest winner:
metadata resolves neutral ambiguity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92840" y="6519672"/>
            <a:ext cx="758952" cy="256032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684"/>
                </a:solidFill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F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12 · DISSONANCE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</a:rPr>
              <a:t>Agent Dissonance: When Agents Disagree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404F"/>
                </a:solidFill>
              </a:rPr>
              <a:t>Dissonance is a proxy for sample difficulty — Phase 2 improves at every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74552" cy="2540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ssonanc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7498079" cy="4114800"/>
          </a:xfrm>
          <a:prstGeom prst="rect">
            <a:avLst/>
          </a:prstGeom>
          <a:ln>
            <a:solidFill/>
          </a:ln>
        </p:spPr>
      </p:pic>
      <p:sp>
        <p:nvSpPr>
          <p:cNvPr id="9" name="Rectangle 8"/>
          <p:cNvSpPr/>
          <p:nvPr/>
        </p:nvSpPr>
        <p:spPr>
          <a:xfrm>
            <a:off x="8229600" y="1600200"/>
            <a:ext cx="3566160" cy="502920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691640"/>
            <a:ext cx="329184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5AA0"/>
                </a:solidFill>
              </a:rPr>
              <a:t>Key Findings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2057400"/>
            <a:ext cx="3291840" cy="27432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057400"/>
            <a:ext cx="3291840" cy="27432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 &lt; 0.1 (fully agree):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386584"/>
            <a:ext cx="3291840" cy="6400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+23.9 pp gain — context alone helps, not self-correction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3246120"/>
            <a:ext cx="3291840" cy="27432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246120"/>
            <a:ext cx="3291840" cy="27432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 ∈ [0.2, 0.3) (moderate):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75304"/>
            <a:ext cx="3291840" cy="6400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+36.0 pp — biggest gain; agents converge despite ambiguity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60" y="4434840"/>
            <a:ext cx="3291840" cy="274320"/>
          </a:xfrm>
          <a:prstGeom prst="rect">
            <a:avLst/>
          </a:prstGeom>
          <a:solidFill>
            <a:srgbClr val="A9363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4434840"/>
            <a:ext cx="3291840" cy="27432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 ≥ 0.4 (SC triggered):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764024"/>
            <a:ext cx="3291840" cy="6400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+11.7 pp — hardest samples; loop helps but gains are lower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5532120"/>
            <a:ext cx="3291840" cy="10058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2332"/>
                </a:solidFill>
              </a:rPr>
              <a:t>Primary insight: The +22.6 pp gain is NOT driven
primarily by self-correction — context enrichment
(metadata + BLIP) is the dominant mechanism.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92840" y="6519672"/>
            <a:ext cx="758952" cy="256032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684"/>
                </a:solidFill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F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13 · 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</a:rPr>
              <a:t>Agent Contribution &amp; Explainability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404F"/>
                </a:solidFill>
              </a:rPr>
              <a:t>Phase 2 provides a complete audit trail — which agent voted what and why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74552" cy="2540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xplainability_ag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389120"/>
          </a:xfrm>
          <a:prstGeom prst="rect">
            <a:avLst/>
          </a:prstGeom>
          <a:ln>
            <a:solidFill/>
          </a:ln>
        </p:spPr>
      </p:pic>
      <p:sp>
        <p:nvSpPr>
          <p:cNvPr id="9" name="Rectangle 8"/>
          <p:cNvSpPr/>
          <p:nvPr/>
        </p:nvSpPr>
        <p:spPr>
          <a:xfrm>
            <a:off x="8961120" y="1600200"/>
            <a:ext cx="2834640" cy="438912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1691640"/>
            <a:ext cx="2560320" cy="548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AA0"/>
                </a:solidFill>
              </a:rPr>
              <a:t>Agent Alignment
(on correct P2 samples)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2331720"/>
            <a:ext cx="256032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AA0"/>
                </a:solidFill>
              </a:rPr>
              <a:t>Analyst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2606040"/>
            <a:ext cx="2560320" cy="4114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C5AA0"/>
                </a:solidFill>
              </a:rPr>
              <a:t>64.9%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99232"/>
            <a:ext cx="2560320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404F"/>
                </a:solidFill>
              </a:rPr>
              <a:t>Text-only — conservative bias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3429000"/>
            <a:ext cx="256032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AA0"/>
                </a:solidFill>
              </a:rPr>
              <a:t>RAG Prover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3703320"/>
            <a:ext cx="2560320" cy="4114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C5AA0"/>
                </a:solidFill>
              </a:rPr>
              <a:t>91.2%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4096512"/>
            <a:ext cx="2560320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404F"/>
                </a:solidFill>
              </a:rPr>
              <a:t>Retrieved context corrects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4526280"/>
            <a:ext cx="256032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AA0"/>
                </a:solidFill>
              </a:rPr>
              <a:t>Visual Verifier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4800600"/>
            <a:ext cx="2560320" cy="41148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C5AA0"/>
                </a:solidFill>
              </a:rPr>
              <a:t>97.7%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5193792"/>
            <a:ext cx="2560320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404F"/>
                </a:solidFill>
              </a:rPr>
              <a:t>Highest — image grounding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5349240"/>
            <a:ext cx="2560320" cy="5943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A2332"/>
                </a:solidFill>
              </a:rPr>
              <a:t>The Analyst alone replicates Phase 1's
bias. Two agents with independent
evidence overrule it 35% of the 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92840" y="6519672"/>
            <a:ext cx="758952" cy="256032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684"/>
                </a:solidFill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F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14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</a:rPr>
              <a:t>Why Phase 2 Works: 3 Mechanisms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404F"/>
                </a:solidFill>
              </a:rPr>
              <a:t>A data-driven decomposition of the +22.6 pp gain from Run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74552" cy="2540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703320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801368"/>
            <a:ext cx="1828800" cy="256032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801368"/>
            <a:ext cx="1828800" cy="256032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Primary driver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130552"/>
            <a:ext cx="347472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AA0"/>
                </a:solidFill>
              </a:rPr>
              <a:t>① Context Breaks Rating Collapse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679192"/>
            <a:ext cx="347472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• Phase 1 under-predicts 90.2% of errors — defaults to 1★/3★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081528"/>
            <a:ext cx="347472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• 288 of 491 recoveries: P1 guesses 3★ → P2 corrects to 5★ (58.7%)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483864"/>
            <a:ext cx="347472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• Product metadata + BLIP caption give agents signal to commit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886200"/>
            <a:ext cx="347472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• to higher ratings that text alone cannot support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0832" y="1691640"/>
            <a:ext cx="3703320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1801368"/>
            <a:ext cx="1828800" cy="256032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801368"/>
            <a:ext cx="1828800" cy="256032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Secondary driver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130552"/>
            <a:ext cx="347472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AA0"/>
                </a:solidFill>
              </a:rPr>
              <a:t>② Multi-Agent Majority Overrules Analyst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679192"/>
            <a:ext cx="347472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• Analyst alone = 64.9% correct on winning samples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081528"/>
            <a:ext cx="347472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• Visual Verifier = 97.7%   RAG Prover = 91.2%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483864"/>
            <a:ext cx="347472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• Two independent evidence sources outvote conservative Analyst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886200"/>
            <a:ext cx="347472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• on 35% of ultimately correct predictions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84464" y="1691640"/>
            <a:ext cx="3703320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94192" y="1801368"/>
            <a:ext cx="1828800" cy="256032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1801368"/>
            <a:ext cx="1828800" cy="256032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Tertiary driver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130552"/>
            <a:ext cx="347472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AA0"/>
                </a:solidFill>
              </a:rPr>
              <a:t>③ Self-Correction Handles Ambiguity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679192"/>
            <a:ext cx="347472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• Triggered on 922 samples (46.1%) when D ≥ 0.4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081528"/>
            <a:ext cx="347472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• +16.6 pp on corrected samples vs +27.7 pp on uncorrected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3483864"/>
            <a:ext cx="347472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• Useful for genuinely hard cases — not the primary gain 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886200"/>
            <a:ext cx="3474720" cy="38404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• Recovery ratio: 491 recovered / 39 regressed = 12.6×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92840" y="6519672"/>
            <a:ext cx="758952" cy="256032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684"/>
                </a:solidFill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F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15 · SUMMARY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</a:rPr>
              <a:t>Full Results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404F"/>
                </a:solidFill>
              </a:rPr>
              <a:t>All key metrics in one view — Amazon Reviews 2023, 2,000 samples, Run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74552" cy="2540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ummar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00200"/>
            <a:ext cx="11612880" cy="5029200"/>
          </a:xfrm>
          <a:prstGeom prst="rect">
            <a:avLst/>
          </a:prstGeom>
          <a:ln>
            <a:solidFill/>
          </a:ln>
        </p:spPr>
      </p:pic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92840" y="6519672"/>
            <a:ext cx="758952" cy="256032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684"/>
                </a:solidFill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F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16 · EVALUATION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</a:rPr>
              <a:t>Evaluation Framework &amp; Latency Trade-off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404F"/>
                </a:solidFill>
              </a:rPr>
              <a:t>Phase 2 adds grounding and verification metrics — and pays a 3.7× latency cost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74552" cy="2540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er_rating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6400800" cy="3474720"/>
          </a:xfrm>
          <a:prstGeom prst="rect">
            <a:avLst/>
          </a:prstGeom>
          <a:ln>
            <a:solidFill/>
          </a:ln>
        </p:spPr>
      </p:pic>
      <p:sp>
        <p:nvSpPr>
          <p:cNvPr id="9" name="Rectangle 8"/>
          <p:cNvSpPr/>
          <p:nvPr/>
        </p:nvSpPr>
        <p:spPr>
          <a:xfrm>
            <a:off x="7132320" y="1600200"/>
            <a:ext cx="4663440" cy="512064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691640"/>
            <a:ext cx="438912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5AA0"/>
                </a:solidFill>
              </a:rPr>
              <a:t>Metric Framework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9480" y="2084831"/>
            <a:ext cx="164592" cy="32918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2084831"/>
            <a:ext cx="164592" cy="329184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C5AA0"/>
                </a:solidFill>
              </a:rPr>
              <a:t>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084831"/>
            <a:ext cx="2286000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Accuracy / F1 / MAE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386583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Both phases — classification quality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2743199"/>
            <a:ext cx="164592" cy="32918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2743199"/>
            <a:ext cx="164592" cy="329184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C5AA0"/>
                </a:solidFill>
              </a:rPr>
              <a:t>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743199"/>
            <a:ext cx="2286000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Dissonance score 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044951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Phase 2 only — agent disagreement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3401567"/>
            <a:ext cx="164592" cy="32918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3401567"/>
            <a:ext cx="164592" cy="329184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C5AA0"/>
                </a:solidFill>
              </a:rPr>
              <a:t>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401567"/>
            <a:ext cx="2286000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Per-agent vote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703319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Phase 2 only — explainability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4059935"/>
            <a:ext cx="164592" cy="32918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4059935"/>
            <a:ext cx="164592" cy="329184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C5AA0"/>
                </a:solidFill>
              </a:rPr>
              <a:t>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059935"/>
            <a:ext cx="2286000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Error recovery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361687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Phase 2 only — net errors fixed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4718303"/>
            <a:ext cx="164592" cy="329184"/>
          </a:xfrm>
          <a:prstGeom prst="rect">
            <a:avLst/>
          </a:prstGeom>
          <a:solidFill>
            <a:srgbClr val="F7F8F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4718303"/>
            <a:ext cx="164592" cy="329184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33404F"/>
                </a:solidFill>
              </a:rPr>
              <a:t>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4718303"/>
            <a:ext cx="2286000" cy="29260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Latency (s/sample)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5020055"/>
            <a:ext cx="41148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04F"/>
                </a:solidFill>
              </a:rPr>
              <a:t>Both — efficiency cost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57800"/>
            <a:ext cx="6400800" cy="1005840"/>
          </a:xfrm>
          <a:prstGeom prst="rect">
            <a:avLst/>
          </a:prstGeom>
          <a:solidFill>
            <a:srgbClr val="F7F8FA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349240"/>
            <a:ext cx="182880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AA0"/>
                </a:solidFill>
              </a:rPr>
              <a:t>Latency trade-off: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577840"/>
            <a:ext cx="6126480" cy="548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Phase 1: 0.77s/sample (1 LLM call)   →   Phase 2: 2.83s/sample (3–5 LLM calls). 3.7× overhead is justified by +22.6 pp accuracy and full audit trail.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292840" y="6519672"/>
            <a:ext cx="758952" cy="256032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684"/>
                </a:solidFill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F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560320" cy="292608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17 ·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</a:rPr>
              <a:t>Conclusion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404F"/>
                </a:solidFill>
              </a:rPr>
              <a:t>A passive classifier becomes an explainable, self-correcting agentic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74552" cy="25400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11274552" cy="292608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109728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5AA0"/>
                </a:solidFill>
              </a:rPr>
              <a:t>Phase 1 vs Phase 2 — Final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228600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404F"/>
                </a:solidFill>
              </a:rPr>
              <a:t>Dimension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121408"/>
            <a:ext cx="320040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404F"/>
                </a:solidFill>
              </a:rPr>
              <a:t>Phase 1 (Baseline)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121408"/>
            <a:ext cx="320040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404F"/>
                </a:solidFill>
              </a:rPr>
              <a:t>Phase 2 (Proposed)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2121408"/>
            <a:ext cx="201168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404F"/>
                </a:solidFill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41448"/>
            <a:ext cx="11274552" cy="438912"/>
          </a:xfrm>
          <a:prstGeom prst="rect">
            <a:avLst/>
          </a:prstGeom>
          <a:solidFill>
            <a:srgbClr val="EDEF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32888"/>
            <a:ext cx="228600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532888"/>
            <a:ext cx="320040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Text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532888"/>
            <a:ext cx="320040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AA0"/>
                </a:solidFill>
              </a:rPr>
              <a:t>Text + metadata + BLIP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532888"/>
            <a:ext cx="201168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AA0"/>
                </a:solidFill>
              </a:rPr>
              <a:t>+22.6 pp acc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971800"/>
            <a:ext cx="228600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971800"/>
            <a:ext cx="320040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1 LLM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971800"/>
            <a:ext cx="320040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AA0"/>
                </a:solidFill>
              </a:rPr>
              <a:t>4-agent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2971800"/>
            <a:ext cx="201168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AA0"/>
                </a:solidFill>
              </a:rPr>
              <a:t>12.6× recovery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19272"/>
            <a:ext cx="11274552" cy="438912"/>
          </a:xfrm>
          <a:prstGeom prst="rect">
            <a:avLst/>
          </a:prstGeom>
          <a:solidFill>
            <a:srgbClr val="EDEFF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410712"/>
            <a:ext cx="228600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Correction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3410712"/>
            <a:ext cx="320040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None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410712"/>
            <a:ext cx="320040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AA0"/>
                </a:solidFill>
              </a:rPr>
              <a:t>D-triggered (≤2 iters)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3410712"/>
            <a:ext cx="201168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AA0"/>
                </a:solidFill>
              </a:rPr>
              <a:t>46.1% triggered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849624"/>
            <a:ext cx="228600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Explainability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3849624"/>
            <a:ext cx="320040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Opaque single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849624"/>
            <a:ext cx="320040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AA0"/>
                </a:solidFill>
              </a:rPr>
              <a:t>Per-agent audit trail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3849624"/>
            <a:ext cx="201168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AA0"/>
                </a:solidFill>
              </a:rPr>
              <a:t>97.7% V.Verif.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800600"/>
            <a:ext cx="11274552" cy="1463040"/>
          </a:xfrm>
          <a:prstGeom prst="rect">
            <a:avLst/>
          </a:prstGeom>
          <a:solidFill>
            <a:srgbClr val="F7F8FA"/>
          </a:solidFill>
          <a:ln w="15240"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892040"/>
            <a:ext cx="1828800" cy="256032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5AA0"/>
                </a:solidFill>
              </a:rPr>
              <a:t>FUTURE 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166360"/>
            <a:ext cx="109728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▶  LLaVA instead of BLIP — direct pixel-level image grounding for the Visual Verifier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458968"/>
            <a:ext cx="109728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▶  LanceDB with CLIP-indexed full product spec sheets — stronger factual grounding for RAG Prover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751576"/>
            <a:ext cx="109728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▶  Scale to 10,000+ samples across multiple product categories — broader evaluation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044184"/>
            <a:ext cx="109728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04F"/>
                </a:solidFill>
              </a:rPr>
              <a:t>▶  Optimise latency: batch agent calls, cache RAG lookups — reduce 3.7× overhead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C5A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92840" y="6519672"/>
            <a:ext cx="758952" cy="256032"/>
          </a:xfrm>
          <a:prstGeom prst="rect">
            <a:avLst/>
          </a:prstGeom>
          <a:noFill/>
          <a:ln>
            <a:solidFill/>
          </a:ln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684"/>
                </a:solidFill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