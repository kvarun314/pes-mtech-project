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Agentic Self-Correction in LLaMA3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8ECF0"/>
                </a:solidFill>
              </a:rPr>
              <a:t>Enhancing E-Commerce Sentiment Analysis through Multi-Agent Reflection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6324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3246120"/>
            <a:ext cx="3017520" cy="347472"/>
          </a:xfrm>
          <a:prstGeom prst="rect">
            <a:avLst/>
          </a:prstGeom>
          <a:solidFill>
            <a:srgbClr val="3C4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24612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Phase 1: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3246120"/>
            <a:ext cx="3017520" cy="34747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4612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Phase 2: Multi-Agent Agentic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3246120"/>
            <a:ext cx="3017520" cy="347472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46120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Amazon Reviews 2023 · 2,000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8ECF0"/>
                </a:solidFill>
              </a:rPr>
              <a:t>LLaMA-3-8B + LoRA  ·  BLIP Visual Verifier  ·  LanceDB RAG  ·  Dissonance-Triggered Self-Correction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80A0"/>
                </a:solidFill>
              </a:rPr>
              <a:t>PES MTech Project  ·  March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01 ·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Problem: Why Single-Pass LLMs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LLaMA-3 excels at language — but a single inference step has no factual verification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657600" cy="25603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0136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013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Sentiment Hallucinations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185416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AI mistakes user error for product defect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e.g. 'watch isn't waterproof' labelled as defect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— no access to spec sheets to verify claims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691640"/>
            <a:ext cx="3657600" cy="25603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80136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18013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Context Blindness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185416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Ignores product images and metadata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Text-only: blind to shattered screen photos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Missing visual evidence = incomplete sentiment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691640"/>
            <a:ext cx="3657600" cy="25603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1801368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1801368"/>
            <a:ext cx="3063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Linguistic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185416"/>
            <a:ext cx="33832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Misreads sarcasm: 'Amazing, it broke in 2 days'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No critic to trigger re-evaluation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E8ECF0"/>
                </a:solidFill>
              </a:rPr>
              <a:t>Mixed sentiment scored incorrectly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34840"/>
            <a:ext cx="11274552" cy="1097280"/>
          </a:xfrm>
          <a:prstGeom prst="rect">
            <a:avLst/>
          </a:prstGeom>
          <a:solidFill>
            <a:srgbClr val="10223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73E8"/>
                </a:solidFill>
              </a:rPr>
              <a:t>THE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critical need for a system that doesn't just read sentiment — but verifies it against product facts and multimodal evidence. The transition: passive single-pass classifier  →  agentic verifier-in-the-loop.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02 ·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From Passive Classifier to Agentic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What the baseline does well — and the three gaps that motivate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49039" cy="42062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BASELINE (Wang et al., 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A853"/>
                </a:solidFill>
              </a:rPr>
              <a:t>✓  LLaMA-3-8B + LoRA fine-tuning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2374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A853"/>
                </a:solidFill>
              </a:rPr>
              <a:t>✓  DQC: TextBlob quality filtering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7121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A853"/>
                </a:solidFill>
              </a:rPr>
              <a:t>✓  VGST: diversity-maximising sampling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A853"/>
                </a:solidFill>
              </a:rPr>
              <a:t>✓  One-Shot + Zero-Shot CoT prompting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4A853"/>
                </a:solidFill>
              </a:rPr>
              <a:t>✓  Paper accuracy: 92.6%  F1: 93.3%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9136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26110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✗  Single-pass — no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✗  Text only — no images/metadata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9560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53E3E"/>
                </a:solidFill>
              </a:rPr>
              <a:t>✗  No factual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1691640"/>
            <a:ext cx="6766560" cy="128016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74920" y="1783080"/>
            <a:ext cx="13716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78308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Gullibility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7556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Factual Grounding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2103120"/>
            <a:ext cx="6492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Baseline assumes user text is always correct. No access to specs to challenge claims.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3108960"/>
            <a:ext cx="6766560" cy="128016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3200400"/>
            <a:ext cx="13716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320040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Critic Gap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1729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Autonomous Auditing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3520440"/>
            <a:ext cx="6492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No self-correction loop. Sarcasm and irony pass unchallenged through the single-pass model.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4526280"/>
            <a:ext cx="6766560" cy="128016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74920" y="4617720"/>
            <a:ext cx="13716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4920" y="461772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Visual Gap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5902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Modality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937760"/>
            <a:ext cx="6492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Text-only. Product images and metadata are ignored — a shattered screen photo is invisible.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03 · DATASETS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Datasets: Baseline vs Proposed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Two different datasets — one for training, one for the Phase 2 multimodal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00" cy="42062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E8"/>
                </a:solidFill>
              </a:rPr>
              <a:t>Phase 1 — Kaggle Amazon 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Source:  arhamrumi/amazon-product-reviews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Size:    ~500,000 product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443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Labels:  1–5 star ratings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284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Fields:  review text, rating,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A623"/>
                </a:solidFill>
              </a:rPr>
              <a:t>Challenge: heavy positive bias, noisy labels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80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Fix: TextBlob DQC + stratified 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864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      + VGST diversity + neutral oversample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486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Final training pool:  4,000 samples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352" y="1691640"/>
            <a:ext cx="5486400" cy="4206240"/>
          </a:xfrm>
          <a:prstGeom prst="rect">
            <a:avLst/>
          </a:prstGeom>
          <a:solidFill>
            <a:srgbClr val="1628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7830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A853"/>
                </a:solidFill>
              </a:rPr>
              <a:t>Phase 2 — Amazon Reviews 2023 (UCSD McAuley Lab)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76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Source:  McAuley-Lab/Amazon-Reviews-2023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5603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Scale:   570M reviews · 48M products · 33 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9443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>Eval:    All Beauty · 2,000 samples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3284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71246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Review data:   text, rating, user ID, timestamp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40965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Metadata:      title, specs, category,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4480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Product images: multiple views per product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864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52486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4A853"/>
                </a:solidFill>
              </a:rPr>
              <a:t>Enables:  text + image + metadata reasoning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04 ·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Phase 1 Data Preprocessing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Five ordered steps to produce a clean, balanced, diverse 4,000-sample training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148840" cy="3474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45720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83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013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TextBlob DQC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76272"/>
            <a:ext cx="19385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Drop reviews where TextBlob polarity contradicts the numeric rating. Removes noisy, mislabelled examples.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743200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8064" y="1691640"/>
            <a:ext cx="2148840" cy="3474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7792" y="1783080"/>
            <a:ext cx="45720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07792" y="1783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18013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Stratified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2176272"/>
            <a:ext cx="19385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Balance to equal counts per class (1–5 stars) up to 10,000 samples. Prevents majority-class bias.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6904" y="2743200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38928" y="1691640"/>
            <a:ext cx="2148840" cy="3474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48656" y="1783080"/>
            <a:ext cx="45720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783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18013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VGST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176272"/>
            <a:ext cx="19385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Greedy diversity sampling: select reviews that maximise new token coverage. Lexical richness.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2743200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79792" y="1691640"/>
            <a:ext cx="2148840" cy="3474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89520" y="1783080"/>
            <a:ext cx="45720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783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9872" y="18013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Oversample Neutral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176272"/>
            <a:ext cx="19385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Duplicate rating-3 examples ×2. Neutral sentiment is the hardest class — more examples help.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743200"/>
            <a:ext cx="192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0656" y="1691640"/>
            <a:ext cx="2148840" cy="3474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930384" y="1783080"/>
            <a:ext cx="45720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17830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60736" y="18013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Cap max_samples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176272"/>
            <a:ext cx="19385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Shuffle and take first 4,000. Final training pool is balanced, diverse, and neutral-boosted.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solidFill>
            <a:srgbClr val="102238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40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A853"/>
                </a:solidFill>
              </a:rPr>
              <a:t>OUTPUT: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5440680"/>
            <a:ext cx="9784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Clean · Balanced (equal per class) · Lexically Diverse · Neutral-boosted · Capped at 4,000 samples → fed into LLaMA-3-8B + LoRA (r=16, α=128, 5 epochs, best checkpoint)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05 · PHASE 1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Phase 1: LLaMA-3-8B + LoRA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Supervised fine-tuning with parameter-efficient LoRA — text-only, single-pass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029200" cy="42062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E8"/>
                </a:solidFill>
              </a:rPr>
              <a:t>LoRA: Parameter-Efficient Fine-Tuning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h = Wx + ΔWx = Wx + BAx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B ∈ ℝᵈˣʳ  and  A ∈ ℝʳˣᵈ  with  r ≪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8094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Only A and B are updated — base weights frozen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2841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Reduces trainable params from d² to 2·r·d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758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Init: A ~ Gaussian, B = 0  →  ΔW = 0 at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23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708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Target modules:  q_proj, k_proj, v_proj, o_proj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1830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Layers:  last 8 transformer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06577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Quantisation:  4-bit NF4 (fits Colab T4 16GB)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691640"/>
            <a:ext cx="5943600" cy="42062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17830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E8"/>
                </a:solidFill>
              </a:rPr>
              <a:t>Hyperparameters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2176272"/>
            <a:ext cx="594360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22311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Learning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311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5e-5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2311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cosine scheduler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61518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Epochs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6151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best checkpoint saved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2944368"/>
            <a:ext cx="594360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97880" y="29992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Batch 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9992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9992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grad accumulation =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LoRA Rank 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3832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paper uses r=4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3712464"/>
            <a:ext cx="594360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3767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LoRA Alpha 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376732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paper uses α=64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15137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Max 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1513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415137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paper uses 2,000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60720" y="4480560"/>
            <a:ext cx="5943600" cy="38404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7880" y="453542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Max Seq Length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45354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1,024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453542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truncation left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919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Quantisation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919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4-bit NF4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9194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080A0"/>
                </a:solidFill>
              </a:rPr>
              <a:t>bitsandbytes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06 · PHASE 2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Phase 2: Multi-Agent Agentic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Four specialised agents with dissonance-triggered self-correction — LangGraph stateful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743200" cy="320040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01368"/>
            <a:ext cx="2523744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801368"/>
            <a:ext cx="2523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AGENT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148840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3E8"/>
                </a:solidFill>
              </a:rPr>
              <a:t>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45059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LLaMA-3-8B + LoRA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88920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Reads review text with one-shot + CoT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27248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Produces draft rating H (Hypothesis)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465576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Same adapter as Phase 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8036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691640"/>
            <a:ext cx="2743200" cy="3200400"/>
          </a:xfrm>
          <a:prstGeom prst="rect">
            <a:avLst/>
          </a:prstGeom>
          <a:solidFill>
            <a:srgbClr val="1628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11296" y="1801368"/>
            <a:ext cx="2523744" cy="27432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1801368"/>
            <a:ext cx="2523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AGENT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2148840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4A853"/>
                </a:solidFill>
              </a:rPr>
              <a:t>Visual Verifier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1296" y="245059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BLIP +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2788920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Downloads product image via 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1296" y="3127248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BLIP generates text caption (Ev)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3465576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LLM re-prompts with visual 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288036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5936" y="1691640"/>
            <a:ext cx="2743200" cy="320040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55664" y="1801368"/>
            <a:ext cx="2523744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1801368"/>
            <a:ext cx="2523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AGENT 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2148840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RAG Prover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245059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LanceDB k-NN (k=3)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788920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Queries vector index of review corpus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3127248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Retrieves 3 similar past reviews (Gf)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3465576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all-MiniLM-L6-v2 384-d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288036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90304" y="1691640"/>
            <a:ext cx="2743200" cy="3200400"/>
          </a:xfrm>
          <a:prstGeom prst="rect">
            <a:avLst/>
          </a:prstGeom>
          <a:solidFill>
            <a:srgbClr val="16283E"/>
          </a:solidFill>
          <a:ln w="1524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1801368"/>
            <a:ext cx="2523744" cy="2743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1801368"/>
            <a:ext cx="2523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AGENT 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2148840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53E3E"/>
                </a:solidFill>
              </a:rPr>
              <a:t>Critic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245059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Dissonance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2788920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Collects votes [H, Ev, Gf]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00032" y="3127248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D = std(votes) / 2  (normalised)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00032" y="3465576"/>
            <a:ext cx="25237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D ≥ 0.4 → self-correction loop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074920"/>
            <a:ext cx="11274552" cy="1234440"/>
          </a:xfrm>
          <a:prstGeom prst="rect">
            <a:avLst/>
          </a:prstGeom>
          <a:solidFill>
            <a:srgbClr val="102238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1663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</a:rPr>
              <a:t>SELF-CORRECTION 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4406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When D ≥ 0.4: Critic generates targeted feedback → Analyst re-runs with critique injected into prompt → up to 2 iterations. On 922 of 2,000 samples (46.1%), agents disagreed enough to trigger the loop.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07 · CRITIC &amp; SELF-CORRECTION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Critic Node &amp; Dissonance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Mathematical definition of disagreement and the reflection loop that resolves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303520" cy="228600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Dissonance Formula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D  =  √( Σ(vᵢ − v̄)² / 3 )  ÷ 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614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vᵢ  =  vote from agent i  (1–5 stars)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v̄   =  mean of three votes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7355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÷ 2  =  normalise to [0, 1] 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2958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Threshold:  D ≥ 0.4  →  trigger correction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691640"/>
            <a:ext cx="5669280" cy="228600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7830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Decision 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121408"/>
            <a:ext cx="1280160" cy="27432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12140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= 0.000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12140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All agents agree → release immediately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560320"/>
            <a:ext cx="1280160" cy="2743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5603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&lt; 0.400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5603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Low disagreement → majority vote wins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2999232"/>
            <a:ext cx="128016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999232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≥ 0.400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99923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High disagreement → Critic feedback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438144"/>
            <a:ext cx="1280160" cy="2743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43814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Loop ×2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4381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Max 2 correction iterations then release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60520"/>
            <a:ext cx="11274552" cy="21031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2519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Run 1 Statistics (2,000 samples)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6177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Self-corrections triggered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8463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A623"/>
                </a:solidFill>
              </a:rPr>
              <a:t>922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239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46.1% of all samples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10712" y="46177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Samples with D ≥ 0.4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10712" y="48463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A623"/>
                </a:solidFill>
              </a:rPr>
              <a:t>669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0712" y="5239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33.5% of all samples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46177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Mean dissonance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7064" y="48463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A623"/>
                </a:solidFill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27064" y="5239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across all 2,000 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3416" y="46177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CF0"/>
                </a:solidFill>
              </a:rPr>
              <a:t>Max dissonance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43416" y="48463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5A623"/>
                </a:solidFill>
              </a:rPr>
              <a:t>0.471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43416" y="523951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hardest disagreement seen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08 · PHASE 1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Phase 1 Baseline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Performance on Kaggle Amazon Reviews (4,000 eval samples) vs paper reference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6675120" cy="411480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Classification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Our Run (Colab T4)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Paper (RTX 4090)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667512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694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694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66.6%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5694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92.6%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56946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−26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083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Weighted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0083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68.4%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0083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93.3%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083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−24.9 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364992"/>
            <a:ext cx="667512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4472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Macro F1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4472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49.9%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4472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4472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886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74.1%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886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95.3%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−21.2 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42816"/>
            <a:ext cx="667512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3251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BLEU-4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325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60.7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3251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30.2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3251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A853"/>
                </a:solidFill>
              </a:rPr>
              <a:t>+30.5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7640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ROUGE-1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7640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64.5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47640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85.5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47640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−21 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8978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* Gap in BLEU-4 is positive because our model outputs full CoT reasoning text (longer sequences)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1691640"/>
            <a:ext cx="4297680" cy="411480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43800" y="178308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Why the gap exists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2194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Paper: RTX 4090, exact data splits,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249631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full experimental setup.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798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309981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Our run: Colab T4 (free tier),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340156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single-sample inference,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43800" y="370332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4-bit quantisation.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43800" y="400507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430682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Goal is methodological alignment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460857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— not bit-for-bit reproduction.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43800" y="491032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2120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Despite the gap, Phase 1 is our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5513832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controlled baseline for Phase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81558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comparison.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09 · PHASE 2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Phase 1 vs Phase 2: Headline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Amazon Reviews 2023 · All Beauty · 2,000 samples · Run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2743200" cy="1188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16.1%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A853"/>
                </a:solidFill>
              </a:rPr>
              <a:t>38.7%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3774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34A853"/>
                </a:solidFill>
              </a:rPr>
              <a:t>+22.6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743200" cy="1188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1296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Macro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0.095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A853"/>
                </a:solidFill>
              </a:rPr>
              <a:t>0.273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3774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34A853"/>
                </a:solidFill>
              </a:rPr>
              <a:t>+17.8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8888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5936" y="1691640"/>
            <a:ext cx="2743200" cy="1188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MAE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1.520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4A853"/>
                </a:solidFill>
              </a:rPr>
              <a:t>0.964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3774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E53E3E"/>
                </a:solidFill>
              </a:rPr>
              <a:t>−0.557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90304" y="1691640"/>
            <a:ext cx="2743200" cy="11887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Latency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0.77s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0192" y="203911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53E3E"/>
                </a:solidFill>
              </a:rPr>
              <a:t>2.83s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23774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E53E3E"/>
                </a:solidFill>
              </a:rPr>
              <a:t>3.7× overhead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07624" y="28529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ECF0"/>
                </a:solidFill>
              </a:rPr>
              <a:t>Phase 2</a:t>
            </a:r>
          </a:p>
        </p:txBody>
      </p:sp>
      <p:pic>
        <p:nvPicPr>
          <p:cNvPr id="36" name="Picture 35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54680"/>
            <a:ext cx="5760720" cy="3108960"/>
          </a:xfrm>
          <a:prstGeom prst="rect">
            <a:avLst/>
          </a:prstGeom>
        </p:spPr>
      </p:pic>
      <p:pic>
        <p:nvPicPr>
          <p:cNvPr id="37" name="Picture 36" descr="error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154680"/>
            <a:ext cx="5303520" cy="310896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10 · CONFUSION MATRICES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Prediction Quality: Confusion Matrices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Phase 2 concentrates predictions along the diagonal — Phase 1 collapses to narrow classes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74552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806440"/>
            <a:ext cx="5394960" cy="685800"/>
          </a:xfrm>
          <a:prstGeom prst="rect">
            <a:avLst/>
          </a:prstGeom>
          <a:solidFill>
            <a:srgbClr val="16283E"/>
          </a:solidFill>
          <a:ln w="15240">
            <a:solidFill>
              <a:srgbClr val="E5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70448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Phase 1: 90% of errors are under-predictions. Model collapses to 1★ and 3★. Only 25 of 377 true 4★ samples are predicted correctly (6.6% recall).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5806440"/>
            <a:ext cx="5605272" cy="685800"/>
          </a:xfrm>
          <a:prstGeom prst="rect">
            <a:avLst/>
          </a:prstGeom>
          <a:solidFill>
            <a:srgbClr val="1628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5870448"/>
            <a:ext cx="5303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Phase 2: 5★ predictions jump from 241 to 569 — tracking the true distribution. 3★ accuracy reaches 97.9%. Diagonal is substantially denser.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11 · PER-CLASS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Per-Class F1 &amp; Rating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3★ neutral class gains the most — metadata and image context resolve ambiguity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772400" cy="4389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03920" y="1600200"/>
            <a:ext cx="3291840" cy="43891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6916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Per-Rating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20299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ECF0"/>
                </a:solidFill>
              </a:rPr>
              <a:t>Class   n    P1      P2   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331720"/>
            <a:ext cx="329184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24231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1★  147  2.0%  27.2%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242316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A853"/>
                </a:solidFill>
              </a:rPr>
              <a:t>+25.2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620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2★  105  1.9%  1.0%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28620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53E3E"/>
                </a:solidFill>
              </a:rPr>
              <a:t>−1.0 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3209544"/>
            <a:ext cx="329184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33009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3★  190  45.8%  97.9%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33009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A853"/>
                </a:solidFill>
              </a:rPr>
              <a:t>+52.1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7398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4★  377  0.0%  5.3%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73989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A853"/>
                </a:solidFill>
              </a:rPr>
              <a:t>+5.3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0" y="4087368"/>
            <a:ext cx="3291840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41788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5★  1181  19.5%  44.6%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17880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A853"/>
                </a:solidFill>
              </a:rPr>
              <a:t>+25.1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4663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5A623"/>
                </a:solidFill>
              </a:rPr>
              <a:t>3★ is the biggest winner:
metadata resolves neutral ambiguity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12 · DISSONANCE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Agent Dissonance: When Agents Disagree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Dissonance is a proxy for sample difficulty — Phase 2 improves at every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ssonanc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498079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00200"/>
            <a:ext cx="3566160" cy="411480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6916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Key Findings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57400"/>
            <a:ext cx="3291840" cy="27432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57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&lt; 0.1 (fully agree):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386584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+23.9 pp gain — context alone helps, not self-correction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3246120"/>
            <a:ext cx="329184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24612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∈ [0.2, 0.3) (moderate):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75304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+36.0 pp — biggest gain; agents converge despite ambiguity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4434840"/>
            <a:ext cx="3291840" cy="274320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43484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D ≥ 0.4 (SC triggered):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764024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+11.7 pp — hardest samples; loop helps but gains are lower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8920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Primary insight: The +22.6 pp gain is NOT driven
primarily by self-correction — context enrichment
(metadata + BLIP) is the dominant mechanism.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13 · EXPLAINABILITY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Agent Contribution &amp; Explainability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Phase 2 provides a complete audit trail — which agent voted what and why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plainability_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229600" cy="4389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961120" y="1600200"/>
            <a:ext cx="2834640" cy="438912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Agent Alignment
(on correct P2 samples)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3317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3E8"/>
                </a:solidFill>
              </a:rPr>
              <a:t>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606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73E8"/>
                </a:solidFill>
              </a:rPr>
              <a:t>64.9%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9992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Text-only — conservative bias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34290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A853"/>
                </a:solidFill>
              </a:rPr>
              <a:t>RAG Prover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37033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34A853"/>
                </a:solidFill>
              </a:rPr>
              <a:t>91.2%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409651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Retrieved context corrects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52628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Visual Verifier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4800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</a:rPr>
              <a:t>97.7%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51937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8ECF0"/>
                </a:solidFill>
              </a:rPr>
              <a:t>Highest — image grounding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5349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</a:rPr>
              <a:t>The Analyst alone replicates Phase 1's
bias. Two agents with independent
evidence overrule it 35% of the time.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14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Phase 2 Works: 3 Mechanisms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A data-driven decomposition of the +22.6 pp gain from Run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703320" cy="44348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801368"/>
            <a:ext cx="1828800" cy="25603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801368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Primary driver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E8"/>
                </a:solidFill>
              </a:rPr>
              <a:t>① Context Breaks Rating Collapse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791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Phase 1 under-predicts 90.2% of errors — defaults to 1★/3★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815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288 of 491 recoveries: P1 guesses 3★ → P2 corrects to 5★ (58.7%)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4838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Product metadata + BLIP caption give agents signal to commit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886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to higher ratings that text alone cannot support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0832" y="1691640"/>
            <a:ext cx="3703320" cy="4434840"/>
          </a:xfrm>
          <a:prstGeom prst="rect">
            <a:avLst/>
          </a:prstGeom>
          <a:solidFill>
            <a:srgbClr val="16283E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1801368"/>
            <a:ext cx="1828800" cy="256032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801368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Secondary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A853"/>
                </a:solidFill>
              </a:rPr>
              <a:t>② Multi-Agent Majority Overrules Analyst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6791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Analyst alone = 64.9% correct on winning samples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0815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Visual Verifier = 97.7%   RAG Prover = 91.2%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4838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Two independent evidence sources outvote conservative 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886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on 35% of ultimately correct predictions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4464" y="1691640"/>
            <a:ext cx="3703320" cy="4434840"/>
          </a:xfrm>
          <a:prstGeom prst="rect">
            <a:avLst/>
          </a:prstGeom>
          <a:solidFill>
            <a:srgbClr val="16283E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4192" y="1801368"/>
            <a:ext cx="1828800" cy="2560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1801368"/>
            <a:ext cx="1828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1B2A"/>
                </a:solidFill>
              </a:rPr>
              <a:t>Tertiary driver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③ Self-Correction Handles Ambiguity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67919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Triggered on 922 samples (46.1%) when D ≥ 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0815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+16.6 pp on corrected samples vs +27.7 pp on uncorrected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4838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Useful for genuinely hard cases — not the primary gain source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86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• Recovery ratio: 491 recovered / 39 regressed = 12.6×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15 · SUMMARY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Full Results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All key metrics in one view — Amazon Reviews 2023, 2,000 samples, Run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mma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00200"/>
            <a:ext cx="11612880" cy="50292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16 ·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Evaluation Framework &amp; Latency Trade-off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Phase 2 adds grounding and verification metrics — and pays a 3.7× latency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_rating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400800" cy="3474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132320" y="1600200"/>
            <a:ext cx="4663440" cy="512064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Metric Framework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9480" y="2084831"/>
            <a:ext cx="164592" cy="32918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2084831"/>
            <a:ext cx="1645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73E8"/>
                </a:solidFill>
              </a:rPr>
              <a:t>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08483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Accuracy / F1 / MAE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38658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Both phases — classification quality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2743199"/>
            <a:ext cx="164592" cy="32918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1645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34A853"/>
                </a:solidFill>
              </a:rPr>
              <a:t>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74319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Dissonance score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04495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Phase 2 only — agent disagreement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3401567"/>
            <a:ext cx="164592" cy="32918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401567"/>
            <a:ext cx="1645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5A623"/>
                </a:solidFill>
              </a:rPr>
              <a:t>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401567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Per-agent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70331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Phase 2 only — explainability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4059935"/>
            <a:ext cx="164592" cy="329184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59935"/>
            <a:ext cx="1645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34A853"/>
                </a:solidFill>
              </a:rPr>
              <a:t>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059935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Error recovery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361687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Phase 2 only — net errors fixed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4718303"/>
            <a:ext cx="164592" cy="329184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4718303"/>
            <a:ext cx="1645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E8ECF0"/>
                </a:solidFill>
              </a:rPr>
              <a:t>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71830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Latency (s/sample)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5020055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CF0"/>
                </a:solidFill>
              </a:rPr>
              <a:t>Both — efficiency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57800"/>
            <a:ext cx="6400800" cy="1005840"/>
          </a:xfrm>
          <a:prstGeom prst="rect">
            <a:avLst/>
          </a:prstGeom>
          <a:solidFill>
            <a:srgbClr val="102238"/>
          </a:solidFill>
          <a:ln w="1524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3492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Latency trade-off: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7784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Phase 1: 0.77s/sample (1 LLM call)   →   Phase 2: 2.83s/sample (3–5 LLM calls). 3.7× overhead is justified by +22.6 pp accuracy and full audit trail.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560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17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E8ECF0"/>
                </a:solidFill>
              </a:rPr>
              <a:t>A passive classifier becomes an explainable, self-correcting agentic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274552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11274552" cy="2926080"/>
          </a:xfrm>
          <a:prstGeom prst="rect">
            <a:avLst/>
          </a:prstGeom>
          <a:solidFill>
            <a:srgbClr val="16283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3E8"/>
                </a:solidFill>
              </a:rPr>
              <a:t>Phase 1 vs Phase 2 — Final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21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CF0"/>
                </a:solidFill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214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CF0"/>
                </a:solidFill>
              </a:rPr>
              <a:t>Phase 1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1214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CF0"/>
                </a:solidFill>
              </a:rPr>
              <a:t>Phase 2 (Proposed)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1214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ECF0"/>
                </a:solidFill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41448"/>
            <a:ext cx="1127455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328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53288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Text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3288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A853"/>
                </a:solidFill>
              </a:rPr>
              <a:t>Text + metadata + BLIP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53288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+22.6 pp acc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71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9718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1 LLM 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9718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A853"/>
                </a:solidFill>
              </a:rPr>
              <a:t>4-agent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9718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12.6× recovery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319272"/>
            <a:ext cx="11274552" cy="43891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4107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41071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41071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A853"/>
                </a:solidFill>
              </a:rPr>
              <a:t>D-triggered (≤2 iters)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341071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46.1% triggered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849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Explainability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8496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Opaque single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8496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4A853"/>
                </a:solidFill>
              </a:rPr>
              <a:t>Per-agent audit trail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38496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A623"/>
                </a:solidFill>
              </a:rPr>
              <a:t>97.7% V.Verif.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11274552" cy="1463040"/>
          </a:xfrm>
          <a:prstGeom prst="rect">
            <a:avLst/>
          </a:prstGeom>
          <a:solidFill>
            <a:srgbClr val="102238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8920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73E8"/>
                </a:solidFill>
              </a:rPr>
              <a:t>FUTURE 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166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▶  LLaVA instead of BLIP — direct pixel-level image grounding for the Visual Verifier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4589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▶  LanceDB with CLIP-indexed full product spec sheets — stronger factual grounding for RAG Prover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75157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▶  Scale to 10,000+ samples across multiple product categories — broader evaluation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0441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CF0"/>
                </a:solidFill>
              </a:rPr>
              <a:t>▶  Optimise latency: batch agent calls, cache RAG lookups — reduce 3.7× overhead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